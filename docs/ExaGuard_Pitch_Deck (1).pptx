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-914400"/>
            <a:ext cx="3840480" cy="3840480"/>
          </a:xfrm>
          <a:prstGeom prst="ellipse">
            <a:avLst/>
          </a:prstGeom>
          <a:solidFill>
            <a:srgbClr val="2430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AI + DATA CHALLENGE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ExaGuard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Evidence-first financial crime topology investigations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Exasol Personal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31750">
            <a:solidFill>
              <a:srgbClr val="3D8B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590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463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Selah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32180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Mahima Talluri</a:t>
            </a:r>
            <a:pPr indent="0" marL="0">
              <a:buNone/>
            </a:pPr>
            <a:r>
              <a:rPr lang="en-US" sz="115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smileytalluri@gmail.com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568696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Lenya Gladstone</a:t>
            </a:r>
            <a:pPr indent="0" marL="0">
              <a:buNone/>
            </a:pPr>
            <a:r>
              <a:rPr lang="en-US" sz="115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310625106127@eec.srmrmp.edu.in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815584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Andria Magdalene</a:t>
            </a:r>
            <a:pPr indent="0" marL="0">
              <a:buNone/>
            </a:pPr>
            <a:r>
              <a:rPr lang="en-US" sz="115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andria.magdalene@gmail.com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github.com/talluri-mahima/ExaGuard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isn't a single transaction — it's a shape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74920" cy="4114800"/>
          </a:xfrm>
          <a:prstGeom prst="roundRect">
            <a:avLst>
              <a:gd name="adj" fmla="val 2667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7180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transactions one at a time, in isolation — each payment judged on its own, with no view of the account network around 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4389120"/>
            <a:ext cx="457200" cy="457200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0" name="Shape 8"/>
          <p:cNvSpPr/>
          <p:nvPr/>
        </p:nvSpPr>
        <p:spPr>
          <a:xfrm>
            <a:off x="2011680" y="4389120"/>
            <a:ext cx="457200" cy="457200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1" name="Shape 9"/>
          <p:cNvSpPr/>
          <p:nvPr/>
        </p:nvSpPr>
        <p:spPr>
          <a:xfrm>
            <a:off x="3063240" y="4389120"/>
            <a:ext cx="457200" cy="457200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4389120"/>
            <a:ext cx="457200" cy="457200"/>
          </a:xfrm>
          <a:prstGeom prst="ellipse">
            <a:avLst/>
          </a:prstGeom>
          <a:solidFill>
            <a:srgbClr val="D7DE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983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data points — no connections seen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920240"/>
            <a:ext cx="507492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2286000"/>
            <a:ext cx="548640" cy="54864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financial crime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97180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topologies — cycles, layering chains, fan-out/fan-in mule networks — that only become visible when accounts are viewed as a connected graph.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28232" y="4553712"/>
            <a:ext cx="1051560" cy="-320040"/>
          </a:xfrm>
          <a:prstGeom prst="line">
            <a:avLst/>
          </a:prstGeom>
          <a:noFill/>
          <a:ln w="15875">
            <a:solidFill>
              <a:srgbClr val="5C79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79792" y="4233672"/>
            <a:ext cx="1051560" cy="320040"/>
          </a:xfrm>
          <a:prstGeom prst="line">
            <a:avLst/>
          </a:prstGeom>
          <a:noFill/>
          <a:ln w="15875">
            <a:solidFill>
              <a:srgbClr val="5C79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8232" y="4553712"/>
            <a:ext cx="640080" cy="640080"/>
          </a:xfrm>
          <a:prstGeom prst="line">
            <a:avLst/>
          </a:prstGeom>
          <a:noFill/>
          <a:ln w="15875">
            <a:solidFill>
              <a:srgbClr val="5C79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68312" y="5193792"/>
            <a:ext cx="1051560" cy="0"/>
          </a:xfrm>
          <a:prstGeom prst="line">
            <a:avLst/>
          </a:prstGeom>
          <a:noFill/>
          <a:ln w="15875">
            <a:solidFill>
              <a:srgbClr val="5C79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9872" y="5193792"/>
            <a:ext cx="411480" cy="-640080"/>
          </a:xfrm>
          <a:prstGeom prst="line">
            <a:avLst/>
          </a:prstGeom>
          <a:noFill/>
          <a:ln w="15875">
            <a:solidFill>
              <a:srgbClr val="5C79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9792" y="4233672"/>
            <a:ext cx="-411480" cy="960120"/>
          </a:xfrm>
          <a:prstGeom prst="line">
            <a:avLst/>
          </a:prstGeom>
          <a:noFill/>
          <a:ln w="15875">
            <a:solidFill>
              <a:srgbClr val="5C79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434840"/>
            <a:ext cx="237744" cy="237744"/>
          </a:xfrm>
          <a:prstGeom prst="ellipse">
            <a:avLst/>
          </a:prstGeom>
          <a:solidFill>
            <a:srgbClr val="3D8B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60920" y="4114800"/>
            <a:ext cx="237744" cy="237744"/>
          </a:xfrm>
          <a:prstGeom prst="ellipse">
            <a:avLst/>
          </a:prstGeom>
          <a:solidFill>
            <a:srgbClr val="3D8B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4434840"/>
            <a:ext cx="237744" cy="237744"/>
          </a:xfrm>
          <a:prstGeom prst="ellipse">
            <a:avLst/>
          </a:prstGeom>
          <a:solidFill>
            <a:srgbClr val="3D8B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0" y="5074920"/>
            <a:ext cx="237744" cy="237744"/>
          </a:xfrm>
          <a:prstGeom prst="ellipse">
            <a:avLst/>
          </a:prstGeom>
          <a:solidFill>
            <a:srgbClr val="3D8B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01000" y="5074920"/>
            <a:ext cx="237744" cy="237744"/>
          </a:xfrm>
          <a:prstGeom prst="ellipse">
            <a:avLst/>
          </a:prstGeom>
          <a:solidFill>
            <a:srgbClr val="3D8B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09360" y="54864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connected topology — the mule network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ExaGuard  ·  Exasol AI + Data Challenge 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ExaGuard: detect, prove, and present the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162306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230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synthetic transaction ledger is loaded into Exasol Personal, the single system of record for accounts and transactions.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27832" y="2194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9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502152" y="19659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4485132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5132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200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37033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detection queries run directly against Exasol to surface cycles, layering, and mule-network patterns.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89904" y="2194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9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64224" y="19659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7347204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47204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501384" y="3200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592824" y="37033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stored as evidence with deterministic cryptographic hashes — auditable, and never built from ground-truth labels.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51976" y="2194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9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226296" y="19659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09276" y="2331720"/>
            <a:ext cx="640080" cy="64008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09276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363456" y="3200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454896" y="37033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investigation interface lets an analyst review flagged accounts, the topology behind them, and the underlying evidence.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labels are used only to score results — never as detector input features.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ExaGuard  ·  Exasol AI + Data Challenge 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straight pipeline, with Exasol at the center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232C63"/>
          </a:solidFill>
          <a:ln w="12700">
            <a:solidFill>
              <a:srgbClr val="3B45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26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ledger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3063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11880" y="26060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3D8BF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2926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Personal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1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3063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46520" y="26060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232C63"/>
          </a:solidFill>
          <a:ln w="12700">
            <a:solidFill>
              <a:srgbClr val="3B457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2926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queries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30632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281160" y="26060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232C63"/>
          </a:solidFill>
          <a:ln w="12700">
            <a:solidFill>
              <a:srgbClr val="3B457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0" y="2926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0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console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617720"/>
            <a:ext cx="10607040" cy="1188720"/>
          </a:xfrm>
          <a:prstGeom prst="roundRect">
            <a:avLst>
              <a:gd name="adj" fmla="val 7692"/>
            </a:avLst>
          </a:prstGeom>
          <a:solidFill>
            <a:srgbClr val="1A2153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4892040"/>
            <a:ext cx="548640" cy="54864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48006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Personal is the single system of record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783080" y="516636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accounts, transactions, and evidence live in Exasol — detection queries and the investigation UI both read from and write back to it directly.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ExaGuard  ·  Exasol AI + Data Challenge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DATABASE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Exasol is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631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631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130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560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accounts and transactions are stored directly in Exasol — no shadow database or external store of truth.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4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37261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261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593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4023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detection queries run against Exasol itself, scoring accounts and surfacing suspicious structures in place.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4F7FD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51892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51892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50566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layer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5486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 table holds deterministic, cryptographically hashed records for every finding — built for auditability, not just alerts.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ExaGuard  ·  Exasol AI + Data Challenge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current status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E7D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43230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358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E7D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99923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schema &amp; loader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6027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E7D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566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detection service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1696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E7D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1330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investigation UI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40880" y="1965960"/>
            <a:ext cx="4480560" cy="402336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7360920" y="2286000"/>
            <a:ext cx="548640" cy="54864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609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example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High-activity account detection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34747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 with an unusual burst of transaction activity is flagged, scored, and written to the evidence table with a deterministic hash — ready for an investigator to review end to end.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60920" y="5029200"/>
            <a:ext cx="3840480" cy="0"/>
          </a:xfrm>
          <a:prstGeom prst="line">
            <a:avLst/>
          </a:prstGeom>
          <a:noFill/>
          <a:ln w="12700">
            <a:solidFill>
              <a:srgbClr val="3B457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60920" y="5166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→ Score → Evidence hash → Review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ExaGuard  ·  Exasol AI + Data Challenge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Exasol AI + Data Challenge 2026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1750">
            <a:solidFill>
              <a:srgbClr val="3D8BF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6227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Selah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83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Mahima Talluri</a:t>
            </a:r>
            <a:pPr indent="0" marL="0">
              <a:buNone/>
            </a:pPr>
            <a:r>
              <a:rPr lang="en-US" sz="13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smileytalluri@gmail.com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285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Lenya Gladstone</a:t>
            </a:r>
            <a:pPr indent="0" marL="0">
              <a:buNone/>
            </a:pPr>
            <a:r>
              <a:rPr lang="en-US" sz="13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310625106127@eec.srmrmp.edu.in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5869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Andria Magdalene</a:t>
            </a:r>
            <a:pPr indent="0" marL="0">
              <a:buNone/>
            </a:pPr>
            <a:r>
              <a:rPr lang="en-US" sz="13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andria.magdalene@gmail.com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github.com/talluri-mahima/ExaGuard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2026-09-13T18:06:06Z</dcterms:created>
  <dcterms:modified xsi:type="dcterms:W3CDTF">2026-09-13T18:06:06Z</dcterms:modified>
</cp:coreProperties>
</file>